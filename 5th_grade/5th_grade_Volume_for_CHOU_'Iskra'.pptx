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3" r:id="rId7"/>
    <p:sldId id="264" r:id="rId8"/>
    <p:sldId id="261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bg-BG" smtClean="0"/>
              <a:t>Щракнете за редакция стил подзагл. обр.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bg-BG" dirty="0" smtClean="0"/>
              <a:t>Обем</a:t>
            </a:r>
            <a:endParaRPr lang="en-US" dirty="0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/>
              <a:t>Николета Панайотова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762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= </a:t>
            </a:r>
            <a:r>
              <a:rPr lang="en-US" cap="none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a.b.c</a:t>
            </a:r>
            <a:endParaRPr lang="en-US" cap="none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Контейнер за съдържание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138" y="2170624"/>
            <a:ext cx="5792137" cy="3278189"/>
          </a:xfrm>
          <a:prstGeom prst="rect">
            <a:avLst/>
          </a:prstGeom>
        </p:spPr>
      </p:pic>
      <p:sp>
        <p:nvSpPr>
          <p:cNvPr id="6" name="Текстово поле 5"/>
          <p:cNvSpPr txBox="1"/>
          <p:nvPr/>
        </p:nvSpPr>
        <p:spPr>
          <a:xfrm>
            <a:off x="7570354" y="4197271"/>
            <a:ext cx="42886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smtClean="0"/>
              <a:t>Околни ръбове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smtClean="0"/>
              <a:t>Основни ръбове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smtClean="0"/>
              <a:t>Стени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bg-B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smtClean="0"/>
              <a:t>Обем на тяло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smtClean="0"/>
              <a:t>Лице на фигура</a:t>
            </a:r>
          </a:p>
          <a:p>
            <a:endParaRPr lang="en-US" dirty="0"/>
          </a:p>
        </p:txBody>
      </p:sp>
      <p:sp>
        <p:nvSpPr>
          <p:cNvPr id="7" name="Текстово поле 6"/>
          <p:cNvSpPr txBox="1"/>
          <p:nvPr/>
        </p:nvSpPr>
        <p:spPr>
          <a:xfrm>
            <a:off x="6837356" y="2193956"/>
            <a:ext cx="84804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Обиколка = 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P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erimeter</a:t>
            </a:r>
            <a:r>
              <a:rPr lang="en-US" dirty="0"/>
              <a:t> = 1D, </a:t>
            </a:r>
            <a:r>
              <a:rPr lang="bg-BG" dirty="0" smtClean="0"/>
              <a:t>см</a:t>
            </a:r>
            <a:br>
              <a:rPr lang="bg-BG" dirty="0" smtClean="0"/>
            </a:br>
            <a:r>
              <a:rPr lang="bg-BG" dirty="0" smtClean="0"/>
              <a:t>Лице = 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S</a:t>
            </a:r>
            <a:r>
              <a:rPr lang="en-US" i="1" dirty="0" smtClean="0">
                <a:solidFill>
                  <a:schemeClr val="accent2">
                    <a:lumMod val="75000"/>
                  </a:schemeClr>
                </a:solidFill>
              </a:rPr>
              <a:t>urface</a:t>
            </a:r>
            <a:r>
              <a:rPr lang="en-US" dirty="0" smtClean="0"/>
              <a:t> = 2D, </a:t>
            </a:r>
            <a:r>
              <a:rPr lang="bg-BG" dirty="0" smtClean="0"/>
              <a:t>см</a:t>
            </a:r>
            <a:r>
              <a:rPr lang="en-US" dirty="0" smtClean="0"/>
              <a:t>² </a:t>
            </a:r>
            <a:endParaRPr lang="bg-B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 = </a:t>
            </a:r>
            <a:r>
              <a:rPr lang="bg-BG" dirty="0" smtClean="0"/>
              <a:t>околна повърхнина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</a:t>
            </a:r>
            <a:r>
              <a:rPr lang="en-US" sz="1200" dirty="0" smtClean="0"/>
              <a:t>1</a:t>
            </a:r>
            <a:r>
              <a:rPr lang="en-US" dirty="0" smtClean="0"/>
              <a:t> = S + B = </a:t>
            </a:r>
            <a:r>
              <a:rPr lang="bg-BG" dirty="0" smtClean="0"/>
              <a:t>пълна повърхнина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 = 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B</a:t>
            </a:r>
            <a:r>
              <a:rPr lang="en-US" i="1" dirty="0" smtClean="0">
                <a:solidFill>
                  <a:schemeClr val="accent2">
                    <a:lumMod val="75000"/>
                  </a:schemeClr>
                </a:solidFill>
              </a:rPr>
              <a:t>ase</a:t>
            </a:r>
            <a:r>
              <a:rPr lang="en-US" dirty="0" smtClean="0"/>
              <a:t> = </a:t>
            </a:r>
            <a:r>
              <a:rPr lang="bg-BG" dirty="0" smtClean="0"/>
              <a:t>основа</a:t>
            </a:r>
          </a:p>
          <a:p>
            <a:r>
              <a:rPr lang="bg-BG" dirty="0"/>
              <a:t>Обем = 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V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olume</a:t>
            </a:r>
            <a:r>
              <a:rPr lang="en-US" dirty="0"/>
              <a:t> = 3D (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dimension</a:t>
            </a:r>
            <a:r>
              <a:rPr lang="en-US" i="1" dirty="0"/>
              <a:t> </a:t>
            </a:r>
            <a:r>
              <a:rPr lang="en-US" dirty="0"/>
              <a:t>/ </a:t>
            </a:r>
            <a:r>
              <a:rPr lang="bg-BG" dirty="0"/>
              <a:t>измерение), см</a:t>
            </a:r>
            <a:r>
              <a:rPr lang="en-US" dirty="0" smtClean="0"/>
              <a:t>³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9459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 smtClean="0">
                <a:solidFill>
                  <a:schemeClr val="accent2">
                    <a:lumMod val="75000"/>
                  </a:schemeClr>
                </a:solidFill>
              </a:rPr>
              <a:t>Преговор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Контейнер за съдържание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bg-BG" dirty="0" smtClean="0"/>
                  <a:t>Каква е разликата между куб и паралелепипед? </a:t>
                </a:r>
              </a:p>
              <a:p>
                <a:endParaRPr lang="bg-BG" dirty="0"/>
              </a:p>
              <a:p>
                <a:r>
                  <a:rPr lang="bg-BG" b="1" dirty="0" smtClean="0"/>
                  <a:t>1 зад. </a:t>
                </a:r>
                <a:r>
                  <a:rPr lang="bg-BG" dirty="0" smtClean="0"/>
                  <a:t>Имаме аквариум с размери 20 см, 30 см, 40 см. Как бихте разбрали колко вода събира? </a:t>
                </a:r>
              </a:p>
              <a:p>
                <a:r>
                  <a:rPr lang="bg-BG" u="sng" dirty="0" smtClean="0"/>
                  <a:t>Решение: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0.30.40=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2.3.4.10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bg-BG" b="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bg-BG" i="1" dirty="0" smtClean="0"/>
                  <a:t> литра                                                            </a:t>
                </a:r>
                <a:r>
                  <a:rPr lang="bg-BG" i="1" dirty="0" err="1" smtClean="0"/>
                  <a:t>Отг</a:t>
                </a:r>
                <a:r>
                  <a:rPr lang="bg-BG" i="1" dirty="0" smtClean="0"/>
                  <a:t>: 24 литра</a:t>
                </a:r>
              </a:p>
              <a:p>
                <a:endParaRPr lang="bg-BG" i="1" dirty="0" smtClean="0"/>
              </a:p>
              <a:p>
                <a:r>
                  <a:rPr lang="bg-BG" i="1" dirty="0" smtClean="0"/>
                  <a:t>1 см</a:t>
                </a:r>
                <a:r>
                  <a:rPr lang="en-US" dirty="0"/>
                  <a:t>³</a:t>
                </a:r>
                <a:r>
                  <a:rPr lang="bg-BG" i="1" dirty="0" smtClean="0"/>
                  <a:t>= 1 </a:t>
                </a:r>
                <a:r>
                  <a:rPr lang="bg-BG" i="1" dirty="0" err="1" smtClean="0"/>
                  <a:t>мл</a:t>
                </a:r>
                <a:endParaRPr lang="en-US" i="1" dirty="0" smtClean="0"/>
              </a:p>
              <a:p>
                <a:r>
                  <a:rPr lang="en-US" i="1" dirty="0" smtClean="0"/>
                  <a:t>10 </a:t>
                </a:r>
                <a:r>
                  <a:rPr lang="bg-BG" i="1" dirty="0" smtClean="0"/>
                  <a:t>см</a:t>
                </a:r>
                <a:r>
                  <a:rPr lang="en-US" dirty="0" smtClean="0"/>
                  <a:t>³</a:t>
                </a:r>
                <a:r>
                  <a:rPr lang="bg-BG" dirty="0" smtClean="0"/>
                  <a:t> = 10 см . 10 см . 10 см = 1000 см</a:t>
                </a:r>
                <a:r>
                  <a:rPr lang="en-US" dirty="0" smtClean="0"/>
                  <a:t>³</a:t>
                </a:r>
                <a:r>
                  <a:rPr lang="bg-BG" dirty="0" smtClean="0"/>
                  <a:t> = 1000 </a:t>
                </a:r>
                <a:r>
                  <a:rPr lang="bg-BG" dirty="0" err="1" smtClean="0"/>
                  <a:t>мл</a:t>
                </a:r>
                <a:r>
                  <a:rPr lang="bg-BG" dirty="0" smtClean="0"/>
                  <a:t> = 1 литър</a:t>
                </a:r>
              </a:p>
              <a:p>
                <a:r>
                  <a:rPr lang="bg-BG" i="1" dirty="0" smtClean="0"/>
                  <a:t>1 литър = 1 </a:t>
                </a:r>
                <a:r>
                  <a:rPr lang="bg-BG" i="1" dirty="0" err="1" smtClean="0"/>
                  <a:t>дм</a:t>
                </a:r>
                <a:r>
                  <a:rPr lang="en-US" dirty="0" smtClean="0"/>
                  <a:t>³</a:t>
                </a:r>
                <a:r>
                  <a:rPr lang="bg-BG" dirty="0" smtClean="0"/>
                  <a:t> (</a:t>
                </a:r>
                <a:r>
                  <a:rPr lang="bg-BG" dirty="0" err="1" smtClean="0"/>
                  <a:t>деци</a:t>
                </a:r>
                <a:r>
                  <a:rPr lang="bg-BG" dirty="0" smtClean="0"/>
                  <a:t>-метър)</a:t>
                </a:r>
                <a:endParaRPr lang="bg-BG" i="1" dirty="0" smtClean="0"/>
              </a:p>
              <a:p>
                <a:endParaRPr lang="bg-BG" u="sng" dirty="0" smtClean="0"/>
              </a:p>
              <a:p>
                <a:endParaRPr lang="en-US" u="sng" dirty="0"/>
              </a:p>
            </p:txBody>
          </p:sp>
        </mc:Choice>
        <mc:Fallback xmlns="">
          <p:sp>
            <p:nvSpPr>
              <p:cNvPr id="3" name="Контейнер за съдържание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29" t="-2121" b="-1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376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024128" y="276123"/>
            <a:ext cx="9720072" cy="1499616"/>
          </a:xfrm>
        </p:spPr>
        <p:txBody>
          <a:bodyPr/>
          <a:lstStyle/>
          <a:p>
            <a:pPr algn="ctr"/>
            <a:r>
              <a:rPr lang="bg-BG" dirty="0" smtClean="0">
                <a:solidFill>
                  <a:schemeClr val="accent2">
                    <a:lumMod val="75000"/>
                  </a:schemeClr>
                </a:solidFill>
              </a:rPr>
              <a:t>задачи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024128" y="1775739"/>
            <a:ext cx="10167613" cy="4023360"/>
          </a:xfrm>
        </p:spPr>
        <p:txBody>
          <a:bodyPr/>
          <a:lstStyle/>
          <a:p>
            <a:r>
              <a:rPr lang="bg-BG" b="1" dirty="0" smtClean="0"/>
              <a:t>2 зад: </a:t>
            </a:r>
            <a:r>
              <a:rPr lang="bg-BG" dirty="0" smtClean="0"/>
              <a:t>(устна) Даден е паралелепипед със страни 3, 4 и 5 см. Намерете обема му.</a:t>
            </a:r>
          </a:p>
          <a:p>
            <a:endParaRPr lang="bg-BG" dirty="0" smtClean="0"/>
          </a:p>
          <a:p>
            <a:r>
              <a:rPr lang="bg-BG" b="1" u="sng" dirty="0" smtClean="0"/>
              <a:t>Решение: </a:t>
            </a:r>
            <a:r>
              <a:rPr lang="bg-BG" dirty="0" smtClean="0"/>
              <a:t>3.4.5 = 12.5 = 60 см</a:t>
            </a:r>
            <a:r>
              <a:rPr lang="en-US" dirty="0" smtClean="0"/>
              <a:t>³</a:t>
            </a:r>
            <a:r>
              <a:rPr lang="bg-BG" dirty="0" smtClean="0"/>
              <a:t>                                                                       </a:t>
            </a:r>
            <a:r>
              <a:rPr lang="bg-BG" dirty="0" err="1" smtClean="0"/>
              <a:t>Отг</a:t>
            </a:r>
            <a:r>
              <a:rPr lang="bg-BG" dirty="0" smtClean="0"/>
              <a:t>: </a:t>
            </a:r>
            <a:r>
              <a:rPr lang="en-US" dirty="0" smtClean="0"/>
              <a:t>V = </a:t>
            </a:r>
            <a:r>
              <a:rPr lang="bg-BG" dirty="0" smtClean="0"/>
              <a:t>60 см</a:t>
            </a:r>
            <a:r>
              <a:rPr lang="en-US" dirty="0" smtClean="0"/>
              <a:t>³</a:t>
            </a:r>
            <a:endParaRPr lang="bg-BG" dirty="0" smtClean="0"/>
          </a:p>
          <a:p>
            <a:endParaRPr lang="bg-BG" dirty="0"/>
          </a:p>
          <a:p>
            <a:r>
              <a:rPr lang="bg-BG" b="1" dirty="0" smtClean="0"/>
              <a:t>3 зад: </a:t>
            </a:r>
            <a:r>
              <a:rPr lang="en-US" dirty="0" smtClean="0"/>
              <a:t>ABCDA</a:t>
            </a:r>
            <a:r>
              <a:rPr lang="bg-BG" sz="1200" dirty="0" smtClean="0"/>
              <a:t>1</a:t>
            </a:r>
            <a:r>
              <a:rPr lang="en-US" dirty="0" smtClean="0"/>
              <a:t>B</a:t>
            </a:r>
            <a:r>
              <a:rPr lang="bg-BG" sz="1200" dirty="0" smtClean="0"/>
              <a:t>1</a:t>
            </a:r>
            <a:r>
              <a:rPr lang="en-US" dirty="0" smtClean="0"/>
              <a:t>C</a:t>
            </a:r>
            <a:r>
              <a:rPr lang="bg-BG" sz="1200" dirty="0" smtClean="0"/>
              <a:t>1</a:t>
            </a:r>
            <a:r>
              <a:rPr lang="en-US" dirty="0" smtClean="0"/>
              <a:t>D</a:t>
            </a:r>
            <a:r>
              <a:rPr lang="bg-BG" sz="1200" dirty="0" smtClean="0"/>
              <a:t>1</a:t>
            </a:r>
            <a:r>
              <a:rPr lang="en-US" dirty="0" smtClean="0"/>
              <a:t> – </a:t>
            </a:r>
            <a:r>
              <a:rPr lang="bg-BG" dirty="0" err="1" smtClean="0"/>
              <a:t>пар</a:t>
            </a:r>
            <a:r>
              <a:rPr lang="bg-BG" dirty="0" smtClean="0"/>
              <a:t>-д</a:t>
            </a:r>
            <a:br>
              <a:rPr lang="bg-BG" dirty="0" smtClean="0"/>
            </a:br>
            <a:r>
              <a:rPr lang="en-US" dirty="0" smtClean="0"/>
              <a:t>V = 120 </a:t>
            </a:r>
            <a:r>
              <a:rPr lang="bg-BG" dirty="0" smtClean="0"/>
              <a:t>см</a:t>
            </a:r>
            <a:r>
              <a:rPr lang="en-US" dirty="0" smtClean="0"/>
              <a:t>³</a:t>
            </a:r>
            <a:br>
              <a:rPr lang="en-US" dirty="0" smtClean="0"/>
            </a:br>
            <a:r>
              <a:rPr lang="en-US" dirty="0" smtClean="0"/>
              <a:t>a = 4 </a:t>
            </a:r>
            <a:r>
              <a:rPr lang="bg-BG" dirty="0" smtClean="0"/>
              <a:t>см</a:t>
            </a:r>
            <a:br>
              <a:rPr lang="bg-BG" dirty="0" smtClean="0"/>
            </a:br>
            <a:r>
              <a:rPr lang="bg-BG" u="sng" dirty="0" smtClean="0"/>
              <a:t>б = 6 см</a:t>
            </a:r>
            <a:br>
              <a:rPr lang="bg-BG" u="sng" dirty="0" smtClean="0"/>
            </a:br>
            <a:r>
              <a:rPr lang="en-US" dirty="0" smtClean="0"/>
              <a:t>c = ?</a:t>
            </a:r>
            <a:endParaRPr lang="bg-BG" dirty="0"/>
          </a:p>
        </p:txBody>
      </p:sp>
      <p:sp>
        <p:nvSpPr>
          <p:cNvPr id="5" name="Текстово поле 4"/>
          <p:cNvSpPr txBox="1"/>
          <p:nvPr/>
        </p:nvSpPr>
        <p:spPr>
          <a:xfrm>
            <a:off x="6503831" y="3490775"/>
            <a:ext cx="46879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 = </a:t>
            </a:r>
            <a:r>
              <a:rPr lang="en-US" dirty="0" err="1" smtClean="0"/>
              <a:t>a.b.c</a:t>
            </a:r>
            <a:r>
              <a:rPr lang="en-US" dirty="0" smtClean="0"/>
              <a:t>,    c = x</a:t>
            </a:r>
            <a:endParaRPr lang="bg-BG" dirty="0" smtClean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4.6.x = 120</a:t>
            </a:r>
            <a:endParaRPr lang="bg-BG" dirty="0" smtClean="0"/>
          </a:p>
          <a:p>
            <a:endParaRPr lang="bg-BG" dirty="0" smtClean="0"/>
          </a:p>
          <a:p>
            <a:r>
              <a:rPr lang="bg-BG" dirty="0" smtClean="0"/>
              <a:t>Не бързайте да умножавате! </a:t>
            </a:r>
          </a:p>
          <a:p>
            <a:r>
              <a:rPr lang="bg-BG" dirty="0" smtClean="0"/>
              <a:t>Съкращавайте!</a:t>
            </a:r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 x = 5 </a:t>
            </a:r>
            <a:r>
              <a:rPr lang="bg-BG" dirty="0" smtClean="0"/>
              <a:t>см                            </a:t>
            </a:r>
            <a:r>
              <a:rPr lang="bg-BG" dirty="0" err="1" smtClean="0"/>
              <a:t>Отг</a:t>
            </a:r>
            <a:r>
              <a:rPr lang="bg-BG" dirty="0" smtClean="0"/>
              <a:t>: </a:t>
            </a:r>
            <a:r>
              <a:rPr lang="en-US" dirty="0" smtClean="0"/>
              <a:t>c = </a:t>
            </a:r>
            <a:r>
              <a:rPr lang="bg-BG" dirty="0" smtClean="0"/>
              <a:t>5 см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68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 smtClean="0">
                <a:solidFill>
                  <a:schemeClr val="accent2">
                    <a:lumMod val="75000"/>
                  </a:schemeClr>
                </a:solidFill>
              </a:rPr>
              <a:t>Уловка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b="1" dirty="0" smtClean="0"/>
              <a:t>4 зад: </a:t>
            </a:r>
            <a:r>
              <a:rPr lang="bg-BG" dirty="0" smtClean="0"/>
              <a:t>Ако увеличим всички ръбове 2 пъти, колко пъти ще се увеличи обемът?</a:t>
            </a:r>
          </a:p>
          <a:p>
            <a:endParaRPr lang="bg-BG" dirty="0"/>
          </a:p>
          <a:p>
            <a:r>
              <a:rPr lang="bg-BG" dirty="0" smtClean="0"/>
              <a:t>Проверка: </a:t>
            </a:r>
          </a:p>
          <a:p>
            <a:r>
              <a:rPr lang="bg-BG" dirty="0" smtClean="0"/>
              <a:t>3.4.5 = </a:t>
            </a:r>
          </a:p>
          <a:p>
            <a:r>
              <a:rPr lang="bg-BG" dirty="0" smtClean="0"/>
              <a:t>6.4.10 = </a:t>
            </a:r>
          </a:p>
          <a:p>
            <a:endParaRPr lang="bg-BG" dirty="0"/>
          </a:p>
          <a:p>
            <a:r>
              <a:rPr lang="bg-BG" dirty="0" smtClean="0"/>
              <a:t>480 : 60 = 8 пъти. </a:t>
            </a:r>
          </a:p>
          <a:p>
            <a:r>
              <a:rPr lang="bg-BG" dirty="0" smtClean="0"/>
              <a:t>Защо 8 пъти, а не 2? </a:t>
            </a:r>
          </a:p>
          <a:p>
            <a:r>
              <a:rPr lang="bg-BG" dirty="0" smtClean="0"/>
              <a:t>8 = 2.2.2 = 2</a:t>
            </a:r>
            <a:r>
              <a:rPr lang="en-US" dirty="0" smtClean="0"/>
              <a:t>³</a:t>
            </a:r>
            <a:r>
              <a:rPr lang="bg-BG" dirty="0" smtClean="0"/>
              <a:t> - имаме 3 измерения: </a:t>
            </a:r>
            <a:r>
              <a:rPr lang="en-US" dirty="0" smtClean="0"/>
              <a:t>a.2.b.2.c.2 = a.b.c.8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40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998370" y="420012"/>
            <a:ext cx="9974430" cy="1499616"/>
          </a:xfrm>
        </p:spPr>
        <p:txBody>
          <a:bodyPr>
            <a:normAutofit/>
          </a:bodyPr>
          <a:lstStyle/>
          <a:p>
            <a:pPr algn="ctr"/>
            <a:r>
              <a:rPr lang="bg-BG" sz="2800" b="1" dirty="0">
                <a:solidFill>
                  <a:schemeClr val="accent2">
                    <a:lumMod val="75000"/>
                  </a:schemeClr>
                </a:solidFill>
              </a:rPr>
              <a:t>Уловка: </a:t>
            </a:r>
            <a:r>
              <a:rPr lang="bg-BG" sz="2800" b="1" dirty="0" smtClean="0">
                <a:solidFill>
                  <a:schemeClr val="accent2">
                    <a:lumMod val="75000"/>
                  </a:schemeClr>
                </a:solidFill>
              </a:rPr>
              <a:t/>
            </a:r>
            <a:br>
              <a:rPr lang="bg-BG" sz="2800" b="1" dirty="0" smtClean="0">
                <a:solidFill>
                  <a:schemeClr val="accent2">
                    <a:lumMod val="75000"/>
                  </a:schemeClr>
                </a:solidFill>
              </a:rPr>
            </a:br>
            <a:r>
              <a:rPr lang="bg-BG" sz="2800" dirty="0" smtClean="0">
                <a:solidFill>
                  <a:schemeClr val="accent2">
                    <a:lumMod val="75000"/>
                  </a:schemeClr>
                </a:solidFill>
              </a:rPr>
              <a:t>Кое </a:t>
            </a:r>
            <a:r>
              <a:rPr lang="bg-BG" sz="2800" dirty="0">
                <a:solidFill>
                  <a:schemeClr val="accent2">
                    <a:lumMod val="75000"/>
                  </a:schemeClr>
                </a:solidFill>
              </a:rPr>
              <a:t>тежи повече: 1 кг памук или 1 кг злато?</a:t>
            </a:r>
          </a:p>
        </p:txBody>
      </p:sp>
      <p:pic>
        <p:nvPicPr>
          <p:cNvPr id="6" name="Картина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69" y="1919628"/>
            <a:ext cx="6525770" cy="4319574"/>
          </a:xfrm>
          <a:prstGeom prst="rect">
            <a:avLst/>
          </a:prstGeom>
        </p:spPr>
      </p:pic>
      <p:sp>
        <p:nvSpPr>
          <p:cNvPr id="9" name="Текстово поле 8"/>
          <p:cNvSpPr txBox="1"/>
          <p:nvPr/>
        </p:nvSpPr>
        <p:spPr>
          <a:xfrm>
            <a:off x="7701566" y="2228044"/>
            <a:ext cx="37863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 smtClean="0"/>
              <a:t>5 зад: </a:t>
            </a:r>
            <a:r>
              <a:rPr lang="bg-BG" dirty="0" smtClean="0"/>
              <a:t>Кой паралелепипед има по-голям обем?</a:t>
            </a:r>
          </a:p>
          <a:p>
            <a:r>
              <a:rPr lang="bg-BG" dirty="0" smtClean="0"/>
              <a:t>Размери: </a:t>
            </a:r>
          </a:p>
          <a:p>
            <a:r>
              <a:rPr lang="bg-BG" dirty="0" smtClean="0"/>
              <a:t>2.6.10 или </a:t>
            </a:r>
          </a:p>
          <a:p>
            <a:r>
              <a:rPr lang="bg-BG" dirty="0" smtClean="0"/>
              <a:t>4.5.6    ?</a:t>
            </a:r>
          </a:p>
          <a:p>
            <a:endParaRPr lang="bg-BG" dirty="0" smtClean="0"/>
          </a:p>
          <a:p>
            <a:endParaRPr lang="bg-BG" dirty="0" smtClean="0"/>
          </a:p>
          <a:p>
            <a:endParaRPr lang="bg-BG" dirty="0"/>
          </a:p>
        </p:txBody>
      </p:sp>
      <p:sp>
        <p:nvSpPr>
          <p:cNvPr id="10" name="Текстово поле 9"/>
          <p:cNvSpPr txBox="1"/>
          <p:nvPr/>
        </p:nvSpPr>
        <p:spPr>
          <a:xfrm>
            <a:off x="7701566" y="4079415"/>
            <a:ext cx="34772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u="sng" dirty="0"/>
              <a:t>Решение:</a:t>
            </a:r>
          </a:p>
          <a:p>
            <a:r>
              <a:rPr lang="en-US" dirty="0"/>
              <a:t>V = 120 </a:t>
            </a:r>
            <a:r>
              <a:rPr lang="bg-BG" dirty="0"/>
              <a:t>и </a:t>
            </a:r>
            <a:r>
              <a:rPr lang="en-US" dirty="0"/>
              <a:t>V = </a:t>
            </a:r>
            <a:r>
              <a:rPr lang="bg-BG" dirty="0"/>
              <a:t>120 </a:t>
            </a:r>
          </a:p>
          <a:p>
            <a:endParaRPr lang="bg-BG" dirty="0"/>
          </a:p>
          <a:p>
            <a:r>
              <a:rPr lang="bg-BG" dirty="0"/>
              <a:t>=&gt; Равни са.</a:t>
            </a:r>
          </a:p>
        </p:txBody>
      </p:sp>
      <p:sp>
        <p:nvSpPr>
          <p:cNvPr id="11" name="Текстово поле 10"/>
          <p:cNvSpPr txBox="1"/>
          <p:nvPr/>
        </p:nvSpPr>
        <p:spPr>
          <a:xfrm>
            <a:off x="7289443" y="5628068"/>
            <a:ext cx="6246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https://www.youtube.com/watch?v=XfkJ7wBT-PA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84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336227" y="5358384"/>
            <a:ext cx="9720072" cy="1499616"/>
          </a:xfrm>
        </p:spPr>
        <p:txBody>
          <a:bodyPr>
            <a:normAutofit/>
          </a:bodyPr>
          <a:lstStyle/>
          <a:p>
            <a:r>
              <a:rPr lang="bg-BG" sz="4400" dirty="0">
                <a:solidFill>
                  <a:schemeClr val="accent2">
                    <a:lumMod val="75000"/>
                  </a:schemeClr>
                </a:solidFill>
              </a:rPr>
              <a:t>ЕВРИКА = ОТКРИХ ГО!</a:t>
            </a:r>
            <a:endParaRPr lang="en-US" sz="4400" dirty="0"/>
          </a:p>
        </p:txBody>
      </p:sp>
      <p:pic>
        <p:nvPicPr>
          <p:cNvPr id="3074" name="Picture 2" descr="No photo description availabl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01" y="128789"/>
            <a:ext cx="6035899" cy="672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40526" y="1987468"/>
            <a:ext cx="5048519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Легендата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Архимед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Според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древногръцкия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историк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Плутарх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владетелят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Сиракуза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поръчал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златна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корона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съмнявал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майсторът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я е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смесил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сребро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Задачата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била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поверена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учения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Архимед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Моментът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хрумването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Докато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къпел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във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ваната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Архимед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забелязал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нивото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водата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покачва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обема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тялото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му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Той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осъзнал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измери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обема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короната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докаже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измамата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Известният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Заслепен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радостта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своето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откритие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той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скочил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ваната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хукнал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гол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улиците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Сиракуза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крещейки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„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Еврика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Еврика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!“ („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Открих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го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!“). </a:t>
            </a:r>
          </a:p>
        </p:txBody>
      </p:sp>
      <p:pic>
        <p:nvPicPr>
          <p:cNvPr id="6" name="Picture 2" descr="File:Eureka Gauss.png - Wikimedia Comm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959" y="906096"/>
            <a:ext cx="3759958" cy="67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23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 smtClean="0">
                <a:solidFill>
                  <a:schemeClr val="accent2">
                    <a:lumMod val="75000"/>
                  </a:schemeClr>
                </a:solidFill>
              </a:rPr>
              <a:t>Конкурсни задачи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b="1" dirty="0"/>
              <a:t>6</a:t>
            </a:r>
            <a:r>
              <a:rPr lang="bg-BG" b="1" dirty="0" smtClean="0"/>
              <a:t> зад: </a:t>
            </a:r>
            <a:r>
              <a:rPr lang="bg-BG" dirty="0" smtClean="0"/>
              <a:t>(1997 г – МС – Габрово)</a:t>
            </a:r>
          </a:p>
          <a:p>
            <a:r>
              <a:rPr lang="bg-BG" dirty="0" smtClean="0"/>
              <a:t>Три метални кубчета с ръбове 3 см, 4 см и 5 см били разтопени и от тях било отлято едно ново метално кубче. Колко см е ръба на новото кубче?</a:t>
            </a:r>
          </a:p>
          <a:p>
            <a:r>
              <a:rPr lang="bg-BG" dirty="0" smtClean="0"/>
              <a:t>а) 5.5		б) 5.8		в) 6		г) 6.5		д) друго</a:t>
            </a:r>
          </a:p>
          <a:p>
            <a:endParaRPr lang="bg-BG" dirty="0" smtClean="0"/>
          </a:p>
          <a:p>
            <a:r>
              <a:rPr lang="bg-BG" dirty="0" smtClean="0"/>
              <a:t>Решение: </a:t>
            </a:r>
            <a:r>
              <a:rPr lang="en-US" dirty="0" smtClean="0"/>
              <a:t>3³ + 4³ + 5³ =</a:t>
            </a:r>
          </a:p>
          <a:p>
            <a:r>
              <a:rPr lang="en-US" dirty="0" smtClean="0"/>
              <a:t>= 27 + 64 + 125 = </a:t>
            </a:r>
          </a:p>
          <a:p>
            <a:r>
              <a:rPr lang="en-US" dirty="0" smtClean="0"/>
              <a:t>= 216</a:t>
            </a:r>
          </a:p>
          <a:p>
            <a:pPr marL="0" indent="0">
              <a:buNone/>
            </a:pPr>
            <a:r>
              <a:rPr lang="en-US" dirty="0" smtClean="0"/>
              <a:t>V = a³ = 216 = 6³ 				</a:t>
            </a:r>
            <a:r>
              <a:rPr lang="bg-BG" dirty="0" err="1" smtClean="0"/>
              <a:t>Отг</a:t>
            </a:r>
            <a:r>
              <a:rPr lang="bg-BG" dirty="0" smtClean="0"/>
              <a:t>: 6 см</a:t>
            </a:r>
            <a:endParaRPr lang="bg-B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33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024128" y="309093"/>
            <a:ext cx="10747162" cy="6323527"/>
          </a:xfrm>
        </p:spPr>
        <p:txBody>
          <a:bodyPr/>
          <a:lstStyle/>
          <a:p>
            <a:r>
              <a:rPr lang="bg-BG" b="1" dirty="0"/>
              <a:t>7</a:t>
            </a:r>
            <a:r>
              <a:rPr lang="bg-BG" b="1" dirty="0" smtClean="0"/>
              <a:t> зад: </a:t>
            </a:r>
            <a:r>
              <a:rPr lang="bg-BG" dirty="0" smtClean="0"/>
              <a:t>(1998 г – МС – Габрово)</a:t>
            </a:r>
            <a:br>
              <a:rPr lang="bg-BG" dirty="0" smtClean="0"/>
            </a:br>
            <a:r>
              <a:rPr lang="bg-BG" dirty="0" smtClean="0"/>
              <a:t>Басейн с размери: дължина 4 м, ширина 3 м и дълбочина 2 м е облицован с квадратни плочки със страна 25 см. Колко плочки са използвани?</a:t>
            </a:r>
          </a:p>
          <a:p>
            <a:r>
              <a:rPr lang="bg-BG" dirty="0" smtClean="0"/>
              <a:t>а) 360		б) 420		в) 560		г) 640		д) 832</a:t>
            </a:r>
          </a:p>
          <a:p>
            <a:pPr marL="0" indent="0">
              <a:buNone/>
            </a:pPr>
            <a:r>
              <a:rPr lang="bg-BG" u="sng" dirty="0" smtClean="0"/>
              <a:t>Дадено: </a:t>
            </a:r>
            <a:br>
              <a:rPr lang="bg-BG" u="sng" dirty="0" smtClean="0"/>
            </a:br>
            <a:r>
              <a:rPr lang="en-US" dirty="0" smtClean="0"/>
              <a:t>ABCDA</a:t>
            </a:r>
            <a:r>
              <a:rPr lang="bg-BG" sz="1200" dirty="0"/>
              <a:t>1</a:t>
            </a:r>
            <a:r>
              <a:rPr lang="en-US" dirty="0"/>
              <a:t>B</a:t>
            </a:r>
            <a:r>
              <a:rPr lang="bg-BG" sz="1200" dirty="0"/>
              <a:t>1</a:t>
            </a:r>
            <a:r>
              <a:rPr lang="en-US" dirty="0"/>
              <a:t>C</a:t>
            </a:r>
            <a:r>
              <a:rPr lang="bg-BG" sz="1200" dirty="0"/>
              <a:t>1</a:t>
            </a:r>
            <a:r>
              <a:rPr lang="en-US" dirty="0"/>
              <a:t>D</a:t>
            </a:r>
            <a:r>
              <a:rPr lang="bg-BG" sz="1200" dirty="0"/>
              <a:t>1</a:t>
            </a:r>
            <a:r>
              <a:rPr lang="en-US" dirty="0"/>
              <a:t> – </a:t>
            </a:r>
            <a:r>
              <a:rPr lang="bg-BG" dirty="0" err="1"/>
              <a:t>пар</a:t>
            </a:r>
            <a:r>
              <a:rPr lang="bg-BG" dirty="0"/>
              <a:t>-д</a:t>
            </a:r>
            <a:br>
              <a:rPr lang="bg-BG" dirty="0"/>
            </a:br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= 4 </a:t>
            </a:r>
            <a:r>
              <a:rPr lang="bg-BG" dirty="0" smtClean="0"/>
              <a:t>м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b = 3 </a:t>
            </a:r>
            <a:r>
              <a:rPr lang="bg-BG" dirty="0"/>
              <a:t>м</a:t>
            </a:r>
            <a:br>
              <a:rPr lang="bg-BG" dirty="0"/>
            </a:br>
            <a:r>
              <a:rPr lang="en-US" dirty="0"/>
              <a:t>c</a:t>
            </a:r>
            <a:r>
              <a:rPr lang="bg-BG" dirty="0" smtClean="0"/>
              <a:t> </a:t>
            </a:r>
            <a:r>
              <a:rPr lang="bg-BG" dirty="0"/>
              <a:t>= </a:t>
            </a:r>
            <a:r>
              <a:rPr lang="en-US" dirty="0"/>
              <a:t>2</a:t>
            </a:r>
            <a:r>
              <a:rPr lang="bg-BG" dirty="0" smtClean="0"/>
              <a:t> м</a:t>
            </a:r>
            <a:br>
              <a:rPr lang="bg-BG" dirty="0" smtClean="0"/>
            </a:br>
            <a:r>
              <a:rPr lang="bg-BG" u="sng" dirty="0" smtClean="0"/>
              <a:t>плочки 25 </a:t>
            </a:r>
            <a:r>
              <a:rPr lang="en-US" u="sng" dirty="0" smtClean="0"/>
              <a:t>x 25 </a:t>
            </a:r>
            <a:r>
              <a:rPr lang="bg-BG" u="sng" dirty="0" smtClean="0"/>
              <a:t>см</a:t>
            </a:r>
            <a:r>
              <a:rPr lang="bg-BG" u="sng" dirty="0"/>
              <a:t/>
            </a:r>
            <a:br>
              <a:rPr lang="bg-BG" u="sng" dirty="0"/>
            </a:br>
            <a:r>
              <a:rPr lang="bg-BG" dirty="0" smtClean="0"/>
              <a:t>Брой плочки</a:t>
            </a:r>
            <a:r>
              <a:rPr lang="en-US" dirty="0" smtClean="0"/>
              <a:t> </a:t>
            </a:r>
            <a:r>
              <a:rPr lang="en-US" dirty="0"/>
              <a:t>= ?</a:t>
            </a:r>
            <a:endParaRPr lang="bg-BG" dirty="0"/>
          </a:p>
          <a:p>
            <a:pPr marL="0" indent="0">
              <a:buNone/>
            </a:pPr>
            <a:endParaRPr lang="bg-BG" dirty="0" smtClean="0"/>
          </a:p>
          <a:p>
            <a:pPr marL="0" indent="0">
              <a:buNone/>
            </a:pPr>
            <a:r>
              <a:rPr lang="bg-BG" u="sng" dirty="0" smtClean="0"/>
              <a:t>Решение</a:t>
            </a:r>
            <a:r>
              <a:rPr lang="bg-BG" dirty="0" smtClean="0"/>
              <a:t>:  1 м</a:t>
            </a:r>
            <a:r>
              <a:rPr lang="en-US" dirty="0" smtClean="0"/>
              <a:t>²</a:t>
            </a:r>
            <a:r>
              <a:rPr lang="bg-BG" dirty="0" smtClean="0"/>
              <a:t> = 1м . 1м = (100 см)</a:t>
            </a:r>
            <a:r>
              <a:rPr lang="en-US" dirty="0" smtClean="0"/>
              <a:t>²</a:t>
            </a:r>
            <a:r>
              <a:rPr lang="bg-BG" dirty="0" smtClean="0"/>
              <a:t> = (4.25 см)</a:t>
            </a:r>
            <a:r>
              <a:rPr lang="en-US" dirty="0"/>
              <a:t> ² </a:t>
            </a:r>
            <a:r>
              <a:rPr lang="bg-BG" dirty="0" smtClean="0"/>
              <a:t>= 4.4.25.25 = 16 по 25 плочки.</a:t>
            </a:r>
          </a:p>
          <a:p>
            <a:pPr marL="0" indent="0">
              <a:buNone/>
            </a:pPr>
            <a:r>
              <a:rPr lang="en-US" dirty="0" smtClean="0"/>
              <a:t>S = B + S</a:t>
            </a:r>
            <a:r>
              <a:rPr lang="bg-BG" dirty="0" smtClean="0"/>
              <a:t>ок = </a:t>
            </a:r>
            <a:r>
              <a:rPr lang="en-US" dirty="0" err="1" smtClean="0"/>
              <a:t>a.b</a:t>
            </a:r>
            <a:r>
              <a:rPr lang="en-US" dirty="0" smtClean="0"/>
              <a:t> + (</a:t>
            </a:r>
            <a:r>
              <a:rPr lang="en-US" dirty="0" err="1" smtClean="0"/>
              <a:t>a.c</a:t>
            </a:r>
            <a:r>
              <a:rPr lang="en-US" dirty="0" smtClean="0"/>
              <a:t> + </a:t>
            </a:r>
            <a:r>
              <a:rPr lang="en-US" dirty="0" err="1" smtClean="0"/>
              <a:t>b.c</a:t>
            </a:r>
            <a:r>
              <a:rPr lang="en-US" dirty="0" smtClean="0"/>
              <a:t>).2 = </a:t>
            </a:r>
          </a:p>
          <a:p>
            <a:pPr marL="0" indent="0">
              <a:buNone/>
            </a:pPr>
            <a:r>
              <a:rPr lang="en-US" dirty="0" smtClean="0"/>
              <a:t>12 + (4.2 + 3.2).2 = 12 + (8 + 6).2 = 12 + 14.2 = 12 + 28 = 40 </a:t>
            </a:r>
            <a:r>
              <a:rPr lang="bg-BG" dirty="0" smtClean="0"/>
              <a:t>м</a:t>
            </a:r>
            <a:r>
              <a:rPr lang="en-US" dirty="0" smtClean="0"/>
              <a:t>²</a:t>
            </a:r>
            <a:endParaRPr lang="bg-BG" dirty="0" smtClean="0"/>
          </a:p>
          <a:p>
            <a:pPr marL="0" indent="0">
              <a:buNone/>
            </a:pPr>
            <a:r>
              <a:rPr lang="bg-BG" dirty="0" smtClean="0"/>
              <a:t>=&gt; 40 . 16 = 640 плочки							</a:t>
            </a:r>
            <a:r>
              <a:rPr lang="bg-BG" dirty="0" err="1" smtClean="0"/>
              <a:t>Отг</a:t>
            </a:r>
            <a:r>
              <a:rPr lang="bg-BG" dirty="0" smtClean="0"/>
              <a:t>: 640 плочки</a:t>
            </a:r>
          </a:p>
        </p:txBody>
      </p:sp>
      <p:pic>
        <p:nvPicPr>
          <p:cNvPr id="4" name="Картина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782" y="1976907"/>
            <a:ext cx="25717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8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024127" y="0"/>
            <a:ext cx="9720072" cy="1499616"/>
          </a:xfrm>
        </p:spPr>
        <p:txBody>
          <a:bodyPr/>
          <a:lstStyle/>
          <a:p>
            <a:pPr algn="ctr"/>
            <a:r>
              <a:rPr lang="bg-BG" dirty="0" smtClean="0">
                <a:solidFill>
                  <a:schemeClr val="accent2">
                    <a:lumMod val="75000"/>
                  </a:schemeClr>
                </a:solidFill>
              </a:rPr>
              <a:t>За домашно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024126" y="1345841"/>
            <a:ext cx="9720073" cy="5338293"/>
          </a:xfrm>
        </p:spPr>
        <p:txBody>
          <a:bodyPr/>
          <a:lstStyle/>
          <a:p>
            <a:r>
              <a:rPr lang="bg-BG" dirty="0" smtClean="0"/>
              <a:t>8 зад: (1995 г, МС – Габрово)</a:t>
            </a:r>
          </a:p>
          <a:p>
            <a:r>
              <a:rPr lang="bg-BG" dirty="0" smtClean="0"/>
              <a:t>Кутия от сок с формата на правоъгълен паралелепипед има ръбове </a:t>
            </a:r>
            <a:r>
              <a:rPr lang="en-US" dirty="0" smtClean="0"/>
              <a:t>a:b:c = 2:3:6. </a:t>
            </a:r>
            <a:r>
              <a:rPr lang="bg-BG" dirty="0" smtClean="0"/>
              <a:t>Обемът е 972 см</a:t>
            </a:r>
            <a:r>
              <a:rPr lang="en-US" dirty="0" smtClean="0"/>
              <a:t>³</a:t>
            </a:r>
            <a:r>
              <a:rPr lang="bg-BG" dirty="0" smtClean="0"/>
              <a:t>. На колко е равна пълната повърхнина на кутията?</a:t>
            </a:r>
            <a:endParaRPr lang="en-US" dirty="0" smtClean="0"/>
          </a:p>
          <a:p>
            <a:pPr marL="0" indent="0">
              <a:buNone/>
            </a:pPr>
            <a:r>
              <a:rPr lang="bg-BG" u="sng" dirty="0" smtClean="0"/>
              <a:t>Дадено: </a:t>
            </a:r>
            <a:br>
              <a:rPr lang="bg-BG" u="sng" dirty="0" smtClean="0"/>
            </a:br>
            <a:r>
              <a:rPr lang="en-US" dirty="0" smtClean="0"/>
              <a:t>ABCDA</a:t>
            </a:r>
            <a:r>
              <a:rPr lang="bg-BG" sz="1200" dirty="0" smtClean="0"/>
              <a:t>1</a:t>
            </a:r>
            <a:r>
              <a:rPr lang="en-US" dirty="0" smtClean="0"/>
              <a:t>B</a:t>
            </a:r>
            <a:r>
              <a:rPr lang="bg-BG" sz="1200" dirty="0" smtClean="0"/>
              <a:t>1</a:t>
            </a:r>
            <a:r>
              <a:rPr lang="en-US" dirty="0" smtClean="0"/>
              <a:t>C</a:t>
            </a:r>
            <a:r>
              <a:rPr lang="bg-BG" sz="1200" dirty="0" smtClean="0"/>
              <a:t>1</a:t>
            </a:r>
            <a:r>
              <a:rPr lang="en-US" dirty="0" smtClean="0"/>
              <a:t>D</a:t>
            </a:r>
            <a:r>
              <a:rPr lang="bg-BG" sz="1200" dirty="0" smtClean="0"/>
              <a:t>1</a:t>
            </a:r>
            <a:r>
              <a:rPr lang="en-US" dirty="0" smtClean="0"/>
              <a:t> – </a:t>
            </a:r>
            <a:r>
              <a:rPr lang="bg-BG" dirty="0" err="1" smtClean="0"/>
              <a:t>пар</a:t>
            </a:r>
            <a:r>
              <a:rPr lang="bg-BG" dirty="0" smtClean="0"/>
              <a:t>-д</a:t>
            </a:r>
            <a:br>
              <a:rPr lang="bg-BG" dirty="0" smtClean="0"/>
            </a:br>
            <a:r>
              <a:rPr lang="en-US" dirty="0" smtClean="0"/>
              <a:t>a:b:c = 2 : 3 : 6</a:t>
            </a:r>
            <a:r>
              <a:rPr lang="bg-BG" dirty="0" smtClean="0"/>
              <a:t/>
            </a:r>
            <a:br>
              <a:rPr lang="bg-BG" dirty="0" smtClean="0"/>
            </a:br>
            <a:r>
              <a:rPr lang="en-US" u="sng" dirty="0" smtClean="0"/>
              <a:t>V=</a:t>
            </a:r>
            <a:r>
              <a:rPr lang="en-US" u="sng" dirty="0" err="1" smtClean="0"/>
              <a:t>a.b.c</a:t>
            </a:r>
            <a:r>
              <a:rPr lang="en-US" u="sng" dirty="0" smtClean="0"/>
              <a:t> = 972</a:t>
            </a:r>
            <a:r>
              <a:rPr lang="bg-BG" u="sng" dirty="0" smtClean="0"/>
              <a:t> см</a:t>
            </a:r>
            <a:r>
              <a:rPr lang="en-US" dirty="0" smtClean="0"/>
              <a:t>³</a:t>
            </a:r>
            <a:r>
              <a:rPr lang="bg-BG" u="sng" dirty="0" smtClean="0"/>
              <a:t/>
            </a:r>
            <a:br>
              <a:rPr lang="bg-BG" u="sng" dirty="0" smtClean="0"/>
            </a:br>
            <a:r>
              <a:rPr lang="en-US" dirty="0" smtClean="0"/>
              <a:t>	S</a:t>
            </a:r>
            <a:r>
              <a:rPr lang="en-US" sz="1200" dirty="0" smtClean="0"/>
              <a:t>1</a:t>
            </a:r>
            <a:r>
              <a:rPr lang="en-US" dirty="0" smtClean="0"/>
              <a:t>= ?</a:t>
            </a:r>
            <a:endParaRPr lang="bg-BG" dirty="0" smtClean="0"/>
          </a:p>
          <a:p>
            <a:pPr marL="0" indent="0">
              <a:buNone/>
            </a:pPr>
            <a:r>
              <a:rPr lang="bg-BG" u="sng" dirty="0" smtClean="0"/>
              <a:t>Решение: </a:t>
            </a:r>
            <a:r>
              <a:rPr lang="en-US" dirty="0" smtClean="0"/>
              <a:t>a = 2x, b = 3x, c = 6 x. </a:t>
            </a:r>
          </a:p>
          <a:p>
            <a:pPr marL="0" indent="0">
              <a:buNone/>
            </a:pPr>
            <a:r>
              <a:rPr lang="en-US" dirty="0" smtClean="0"/>
              <a:t>V = 2.3.6.x³ = </a:t>
            </a:r>
            <a:r>
              <a:rPr lang="en-US" dirty="0" smtClean="0"/>
              <a:t>97</a:t>
            </a:r>
            <a:r>
              <a:rPr lang="bg-BG" dirty="0" smtClean="0"/>
              <a:t>2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x = 3 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a =6, b = 9, c = 18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S1 = 2(</a:t>
            </a:r>
            <a:r>
              <a:rPr lang="en-US" dirty="0" err="1" smtClean="0"/>
              <a:t>a.b</a:t>
            </a:r>
            <a:r>
              <a:rPr lang="en-US" dirty="0" smtClean="0"/>
              <a:t> +</a:t>
            </a:r>
            <a:r>
              <a:rPr lang="en-US" dirty="0" err="1" smtClean="0"/>
              <a:t>a.c</a:t>
            </a:r>
            <a:r>
              <a:rPr lang="en-US" dirty="0"/>
              <a:t> </a:t>
            </a:r>
            <a:r>
              <a:rPr lang="en-US" dirty="0" smtClean="0"/>
              <a:t>+ </a:t>
            </a:r>
            <a:r>
              <a:rPr lang="en-US" dirty="0" err="1" smtClean="0"/>
              <a:t>b.c</a:t>
            </a:r>
            <a:r>
              <a:rPr lang="en-US" dirty="0" smtClean="0"/>
              <a:t>) = 2(6.9 + 6.18 + 9.18) = </a:t>
            </a:r>
            <a:r>
              <a:rPr lang="bg-BG" dirty="0" smtClean="0"/>
              <a:t>2.6.9(1+2+3) = </a:t>
            </a:r>
            <a:r>
              <a:rPr lang="en-US" dirty="0" smtClean="0"/>
              <a:t>648 </a:t>
            </a:r>
            <a:r>
              <a:rPr lang="bg-BG" dirty="0" smtClean="0"/>
              <a:t>см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41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1346</TotalTime>
  <Words>451</Words>
  <Application>Microsoft Office PowerPoint</Application>
  <PresentationFormat>Широк екран</PresentationFormat>
  <Paragraphs>91</Paragraphs>
  <Slides>10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10</vt:i4>
      </vt:variant>
    </vt:vector>
  </HeadingPairs>
  <TitlesOfParts>
    <vt:vector size="19" baseType="lpstr">
      <vt:lpstr>Arial</vt:lpstr>
      <vt:lpstr>Calibri</vt:lpstr>
      <vt:lpstr>Cambria Math</vt:lpstr>
      <vt:lpstr>Symbol</vt:lpstr>
      <vt:lpstr>Times New Roman</vt:lpstr>
      <vt:lpstr>Tw Cen MT</vt:lpstr>
      <vt:lpstr>Tw Cen MT Condensed</vt:lpstr>
      <vt:lpstr>Wingdings 3</vt:lpstr>
      <vt:lpstr>Интеграл</vt:lpstr>
      <vt:lpstr>Обем</vt:lpstr>
      <vt:lpstr>V = a.b.c</vt:lpstr>
      <vt:lpstr>Преговор</vt:lpstr>
      <vt:lpstr>задачи</vt:lpstr>
      <vt:lpstr>Уловка</vt:lpstr>
      <vt:lpstr>Уловка:  Кое тежи повече: 1 кг памук или 1 кг злато?</vt:lpstr>
      <vt:lpstr>ЕВРИКА = ОТКРИХ ГО!</vt:lpstr>
      <vt:lpstr>Конкурсни задачи</vt:lpstr>
      <vt:lpstr>Презентация на PowerPoint</vt:lpstr>
      <vt:lpstr>За домашно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Обем</dc:title>
  <dc:creator>Николета</dc:creator>
  <cp:lastModifiedBy>Николета</cp:lastModifiedBy>
  <cp:revision>18</cp:revision>
  <dcterms:created xsi:type="dcterms:W3CDTF">2026-06-03T08:28:05Z</dcterms:created>
  <dcterms:modified xsi:type="dcterms:W3CDTF">2026-06-04T09:26:00Z</dcterms:modified>
</cp:coreProperties>
</file>